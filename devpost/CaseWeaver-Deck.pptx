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UIPATH AGENTHACK 2026  ·  TRACK 1 — MAESTRO CASE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CaseWeaver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AA6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Mortgage Underwriting Agents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underwrite.  Humans decide.  UiPath governs.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502920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7C8C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029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 Claude Code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94760" y="502920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41925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coded agents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06440" y="50292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141925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durable human-in-the-loop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60350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github.com/SebAustin/mortgage-underwriting-agents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Underwriting is exception-heavy — and a human must own the decision.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09728" cy="868680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loans are routine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tail needs document chasing, re-verification, judgement, and fraud checks.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3566160"/>
            <a:ext cx="109728" cy="868680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RPA is too brittle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scripts snap on the exceptions that actually matter.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" y="4800600"/>
            <a:ext cx="109728" cy="868680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754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raw LLM is unacceptable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05840" y="5212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model should make a regulated credit decision.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06640" y="2240280"/>
            <a:ext cx="4069080" cy="37490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2668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EXCEPTION TAIL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2668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26680" y="3429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OCR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2668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434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Debt-ratio over policy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26680" y="4800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gaps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26680" y="5257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AML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26680" y="5486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case management: agents reason, robots act, humans hold authority.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APPROACH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case management on UiPath Maestro Case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429000" cy="292608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286000"/>
            <a:ext cx="3429000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coordinate, and recommend — five coded LangGraph agents.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3429000" cy="292608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86000"/>
            <a:ext cx="3429000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92040" y="33375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mechanical work — ingest, re-digitise, generate letters.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58200" y="2286000"/>
            <a:ext cx="3429000" cy="292608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2286000"/>
            <a:ext cx="3429000" cy="12801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78240" y="33375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authority — decision support, then the final credit call.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669280"/>
            <a:ext cx="10820095" cy="54864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6692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ORCHESTRATED, GOVERNED, AND AUDITED AS ONE MAESTRO CASE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agents · six stages · two gates · one swappable 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1256500" cy="640080"/>
          </a:xfrm>
          <a:prstGeom prst="roundRect">
            <a:avLst>
              <a:gd name="adj" fmla="val 14286"/>
            </a:avLst>
          </a:prstGeom>
          <a:solidFill>
            <a:srgbClr val="141925"/>
          </a:solidFill>
          <a:ln w="16510">
            <a:solidFill>
              <a:srgbClr val="232A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40280"/>
            <a:ext cx="1256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2028" y="2240280"/>
            <a:ext cx="1256500" cy="640080"/>
          </a:xfrm>
          <a:prstGeom prst="roundRect">
            <a:avLst>
              <a:gd name="adj" fmla="val 14286"/>
            </a:avLst>
          </a:prstGeom>
          <a:solidFill>
            <a:srgbClr val="141925"/>
          </a:solidFill>
          <a:ln w="16510">
            <a:solidFill>
              <a:srgbClr val="23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2028" y="2240280"/>
            <a:ext cx="1256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 Verify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8256" y="2240280"/>
            <a:ext cx="1256500" cy="640080"/>
          </a:xfrm>
          <a:prstGeom prst="roundRect">
            <a:avLst>
              <a:gd name="adj" fmla="val 14286"/>
            </a:avLst>
          </a:prstGeom>
          <a:solidFill>
            <a:srgbClr val="141925"/>
          </a:solidFill>
          <a:ln w="16510">
            <a:solidFill>
              <a:srgbClr val="23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8256" y="2240280"/>
            <a:ext cx="1256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84484" y="2240280"/>
            <a:ext cx="1256500" cy="640080"/>
          </a:xfrm>
          <a:prstGeom prst="roundRect">
            <a:avLst>
              <a:gd name="adj" fmla="val 14286"/>
            </a:avLst>
          </a:prstGeom>
          <a:solidFill>
            <a:srgbClr val="141925"/>
          </a:solidFill>
          <a:ln w="16510">
            <a:solidFill>
              <a:srgbClr val="23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4484" y="2240280"/>
            <a:ext cx="1256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Adjudication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0712" y="2240280"/>
            <a:ext cx="1256500" cy="640080"/>
          </a:xfrm>
          <a:prstGeom prst="roundRect">
            <a:avLst>
              <a:gd name="adj" fmla="val 14286"/>
            </a:avLst>
          </a:prstGeom>
          <a:solidFill>
            <a:srgbClr val="1A1733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0712" y="2240280"/>
            <a:ext cx="1256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16940" y="2240280"/>
            <a:ext cx="1256500" cy="640080"/>
          </a:xfrm>
          <a:prstGeom prst="roundRect">
            <a:avLst>
              <a:gd name="adj" fmla="val 14286"/>
            </a:avLst>
          </a:prstGeom>
          <a:solidFill>
            <a:srgbClr val="141925"/>
          </a:solidFill>
          <a:ln w="16510">
            <a:solidFill>
              <a:srgbClr val="23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940" y="2240280"/>
            <a:ext cx="1256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83167" y="2240280"/>
            <a:ext cx="1256500" cy="640080"/>
          </a:xfrm>
          <a:prstGeom prst="roundRect">
            <a:avLst>
              <a:gd name="adj" fmla="val 14286"/>
            </a:avLst>
          </a:prstGeom>
          <a:solidFill>
            <a:srgbClr val="1A1733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3167" y="2240280"/>
            <a:ext cx="1256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9395" y="2240280"/>
            <a:ext cx="1256500" cy="640080"/>
          </a:xfrm>
          <a:prstGeom prst="roundRect">
            <a:avLst>
              <a:gd name="adj" fmla="val 14286"/>
            </a:avLst>
          </a:prstGeom>
          <a:solidFill>
            <a:srgbClr val="141925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9395" y="2240280"/>
            <a:ext cx="1256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063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PlatformPort interface — the same graph runs locally and on UiPath, selected by RUNTIME_MODE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657600"/>
            <a:ext cx="5029200" cy="23774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LocalAdapter — no tenant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05840" y="44805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mocks + SQLite Action Inbox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checkpointer (suspend / resume)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no API key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797296" y="4617720"/>
            <a:ext cx="594360" cy="502920"/>
          </a:xfrm>
          <a:prstGeom prst="roundRect">
            <a:avLst>
              <a:gd name="adj" fmla="val 50000"/>
            </a:avLst>
          </a:prstGeom>
          <a:solidFill>
            <a:srgbClr val="7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5797296" y="4617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⇄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46520" y="3657600"/>
            <a:ext cx="5029200" cy="23774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UiPathAdapter — cloud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766560" y="44805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 tasks &amp; escalations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assets · Document Understanding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LLM Gateway · Maestro durability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AGENTS — CODED (PYTHON · LANGGRAPH)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each agent does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10820095" cy="676656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9456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60520" y="2194560"/>
            <a:ext cx="70710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document set, build the required-docs checklist, triage.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2944368"/>
            <a:ext cx="10820095" cy="676656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944368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DocVerifyAgent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60520" y="2944368"/>
            <a:ext cx="70710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fields, cross-check identity across documents, gate on confidence.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" y="3694176"/>
            <a:ext cx="10820095" cy="676656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694176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UnderwritingAgent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0520" y="3694176"/>
            <a:ext cx="70710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qualifying income (W-2 vs self-employed), reserves, stability.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85800" y="4443984"/>
            <a:ext cx="10820095" cy="676656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44398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AdjudicationAgent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0" y="4443984"/>
            <a:ext cx="70710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/ LTV, policy matrix, self-critique — with a CrewAI debate for borderline files.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85800" y="5193792"/>
            <a:ext cx="10820095" cy="676656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519379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60520" y="5193792"/>
            <a:ext cx="70710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 fraud screen, assemble conditions, route every exception.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85800" y="594360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deterministic and policy-driven — the LLM only narrates.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HUMANS IN CHARGE · ACTION CENTER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gates: decision support, then final authority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368296"/>
            <a:ext cx="109728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331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A — decision support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273405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files only; the underwriter sees the agent's metrics, rationale, compensating factors and policy citations.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3648456"/>
            <a:ext cx="109728" cy="777240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B — final authority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401421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 / decline is signed by a human.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4928616"/>
            <a:ext cx="109728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" y="4892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8408" y="529437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suspends and resumes across processes — like Maestro + Action Center.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0" y="2286000"/>
            <a:ext cx="5852160" cy="3962400"/>
          </a:xfrm>
          <a:prstGeom prst="rect">
            <a:avLst/>
          </a:prstGeom>
          <a:solidFill>
            <a:srgbClr val="0E131D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/Users/sebastienhenry/Documents/Hackathons/UiPath AgentHack/mortgage-underwriting-agents/devpost/gallery/06_loan_officer_desk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377440"/>
            <a:ext cx="5669280" cy="37795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035040" y="63215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loan-officer desk (real UI)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 ARE THE PRODUCT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routes, one auditable policy table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009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9796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Exception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documents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borrower → suspend (info requested)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Low-confidence OCR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re-digitise once → human verify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Conflicting data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re-verify → human resolution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DTI over policy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compensating factors → conditional / decline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Appraisal gap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 LTV on lesser value → human review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/ AML hit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stop → escalate to compliance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Transient failure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exponential-backoff retry → system escalation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A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IT RUN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borderline file, end to end — real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669280" cy="3840480"/>
          </a:xfrm>
          <a:prstGeom prst="rect">
            <a:avLst/>
          </a:prstGeom>
          <a:solidFill>
            <a:srgbClr val="0E131D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Users/sebastienhenry/Documents/Hackathons/UiPath AgentHack/mortgage-underwriting-agents/devpost/gallery/04_borderline_conditional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54864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44% DTI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AA6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rescued by reserves &amp; a 760 score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12280" y="34747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 → underwriter steers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 → final sign-off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conditional approve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12280" y="512064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7C8CFF"/>
          </a:solidFill>
          <a:ln/>
        </p:spPr>
      </p:sp>
      <p:sp>
        <p:nvSpPr>
          <p:cNvPr id="10" name="Text 7"/>
          <p:cNvSpPr/>
          <p:nvPr/>
        </p:nvSpPr>
        <p:spPr>
          <a:xfrm>
            <a:off x="6812280" y="5120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watch the 3-min demo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UIPATH PLATFORM USAGE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Deep, governed platform 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464994" cy="10058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2190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Maestro Case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0834" y="2377440"/>
            <a:ext cx="2464994" cy="10058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07994" y="2377440"/>
            <a:ext cx="2190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Coded Agents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5868" y="2377440"/>
            <a:ext cx="2464994" cy="10058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93028" y="2377440"/>
            <a:ext cx="2190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Center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040901" y="2377440"/>
            <a:ext cx="2464994" cy="10058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78061" y="2377440"/>
            <a:ext cx="2190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Understanding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60"/>
            <a:ext cx="2464994" cy="10058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794760"/>
            <a:ext cx="2190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0834" y="3794760"/>
            <a:ext cx="2464994" cy="10058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07994" y="3794760"/>
            <a:ext cx="2190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Workflows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5868" y="3794760"/>
            <a:ext cx="2464994" cy="10058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93028" y="3794760"/>
            <a:ext cx="2190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Gateway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40901" y="3794760"/>
            <a:ext cx="2464994" cy="100584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78061" y="3794760"/>
            <a:ext cx="2190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 (governed)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5806440"/>
            <a:ext cx="10820095" cy="54864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8064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FRAMEWORK INSIDE A GOVERNED LAYER  ·  BUILT WITH CLAUDE CODE (BONUS)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UIPATH FOR CODING AGENTS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whole solution, built by a coding agent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dual-mode PlatformPort architecture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five agents, the supervisor graph, and the policy engine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Probed the real LangGraph &amp; UiPath SDK APIs before committing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uipath init / pack → a valid .nupkg, with no tenant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tests, the security audit, and the documentation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2331720"/>
            <a:ext cx="3886200" cy="320040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301752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— every commit co-authored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evidence/CODING_AGENT_LOG.md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init / pack in the loop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from the UiPath CLI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PRODUCTION-READY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Engineered, not hacked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430704" cy="219456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743200"/>
            <a:ext cx="243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82264" y="2468880"/>
            <a:ext cx="2430704" cy="219456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82264" y="2743200"/>
            <a:ext cx="243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619424" y="3977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78728" y="2468880"/>
            <a:ext cx="2430704" cy="219456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8728" y="2743200"/>
            <a:ext cx="243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415888" y="3977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Critical / High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075191" y="2468880"/>
            <a:ext cx="2430704" cy="219456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75191" y="2743200"/>
            <a:ext cx="243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9212351" y="3977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.nupkg, no tenant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5120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+ mypy clean · STRIDE security audit · deterministic &amp; reproducible (LLM stubbed)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2062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&amp; WHAT'S NEXT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86384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demo to 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212080" cy="356616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cycle time on routine files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manual touches; agents handle the tail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 — every step on the timeline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accountable for every credit decision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55080" y="2331720"/>
            <a:ext cx="5120640" cy="3566160"/>
          </a:xfrm>
          <a:prstGeom prst="rect">
            <a:avLst/>
          </a:prstGeom>
          <a:solidFill>
            <a:srgbClr val="141925"/>
          </a:solidFill>
          <a:ln w="12700">
            <a:solidFill>
              <a:srgbClr val="232A39"/>
            </a:solidFill>
            <a:prstDash val="solid"/>
          </a:ln>
          <a:effectLst>
            <a:outerShdw sx="100000" sy="100000" kx="0" ky="0" algn="bl" rotWithShape="0" blurRad="114300" dist="508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30632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on UiPath Labs (publish + Maestro canvas)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connectors: credit bureau, AML, Document Understanding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memory — learn from underwriter decisions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case templates: disputes, KYC, claims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CaseWeaver · UiPath AgentHack 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377440"/>
            <a:ext cx="5943600" cy="4572000"/>
          </a:xfrm>
          <a:prstGeom prst="ellipse">
            <a:avLst/>
          </a:prstGeom>
          <a:solidFill>
            <a:srgbClr val="1B274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2024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F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underwrite.  Humans decide.  UiPath governs.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4206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Repo:  </a:t>
            </a:r>
            <a:pPr indent="0" marL="0">
              <a:buNone/>
            </a:pPr>
            <a:r>
              <a:rPr lang="en-US" sz="160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github.com/SebAustin/mortgage-underwriting-agents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6634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+ this deck linked in the Devpost submission.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548640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7C8C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486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 Claude Code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CaseWeaver — Mortgage Underwriting Agents</dc:title>
  <dc:subject>PptxGenJS Presentation</dc:subject>
  <dc:creator>Sebastien Henry</dc:creator>
  <cp:lastModifiedBy>Sebastien Henry</cp:lastModifiedBy>
  <cp:revision>1</cp:revision>
  <dcterms:created xsi:type="dcterms:W3CDTF">2026-06-29T23:36:10Z</dcterms:created>
  <dcterms:modified xsi:type="dcterms:W3CDTF">2026-06-29T23:36:10Z</dcterms:modified>
</cp:coreProperties>
</file>